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095" y="457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80">
                <a:solidFill>
                  <a:srgbClr val="4A4A4A"/>
                </a:solidFill>
                <a:latin typeface="Consolas"/>
              </a:rPr>
              <a:t>DECK INSTITUCIONAL ·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Garamond"/>
              </a:rPr>
              <a:t>Vest</a:t>
            </a:r>
            <a:r>
              <a:rPr sz="2400" b="0" i="0">
                <a:solidFill>
                  <a:srgbClr val="6B0F1A"/>
                </a:solidFill>
                <a:latin typeface="Garamond"/>
              </a:rPr>
              <a:t>í</a:t>
            </a:r>
            <a:r>
              <a:rPr sz="2400" b="0" i="0">
                <a:solidFill>
                  <a:srgbClr val="1A1A1A"/>
                </a:solidFill>
                <a:latin typeface="Garamond"/>
              </a:rPr>
              <a:t>gio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30">
                <a:solidFill>
                  <a:srgbClr val="6B0F1A"/>
                </a:solidFill>
                <a:latin typeface="Calibri"/>
              </a:rPr>
              <a:t>APRESENTAÇÃO INSTITUCIONAL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A1A1A"/>
                </a:solidFill>
                <a:latin typeface="Garamond"/>
              </a:rPr>
              <a:t>[Título da apresentação]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4389120"/>
            <a:ext cx="1371600" cy="0"/>
          </a:xfrm>
          <a:prstGeom prst="line">
            <a:avLst/>
          </a:prstGeom>
          <a:ln w="31750">
            <a:solidFill>
              <a:srgbClr val="6B0F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4A"/>
                </a:solidFill>
                <a:latin typeface="Garamond"/>
              </a:rPr>
              <a:t>[Subtítulo ou epígrafe explicativa]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0F1A"/>
                </a:solidFill>
                <a:latin typeface="Calibri"/>
              </a:rPr>
              <a:t>APRESENTADO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Garamond"/>
              </a:rPr>
              <a:t>[Nome]  ·  [Cargo]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095" y="5852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6B0F1A"/>
                </a:solidFill>
                <a:latin typeface="Calibri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095" y="6080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4A4A4A"/>
                </a:solidFill>
                <a:latin typeface="Consolas"/>
              </a:rPr>
              <a:t>[Mês] de [Ano]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 spc="420">
                <a:solidFill>
                  <a:srgbClr val="6B0F1A"/>
                </a:solidFill>
                <a:latin typeface="Consolas"/>
              </a:rPr>
              <a:t>SEÇÃO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F5F1EA"/>
                </a:solidFill>
                <a:latin typeface="Garamond"/>
              </a:rPr>
              <a:t>[Título da seção]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4206240"/>
            <a:ext cx="1828800" cy="0"/>
          </a:xfrm>
          <a:prstGeom prst="line">
            <a:avLst/>
          </a:prstGeom>
          <a:ln w="38100">
            <a:solidFill>
              <a:srgbClr val="6B0F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44805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5F1EA"/>
                </a:solidFill>
                <a:latin typeface="Garamond"/>
              </a:rPr>
              <a:t>[Epígrafe descritiva em 1-2 linhas explicando o que esta seção cobre, com tom editorial e seriedade institucional.]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5F1EA"/>
                </a:solidFill>
                <a:latin typeface="Garamond"/>
              </a:rPr>
              <a:t>Vest</a:t>
            </a:r>
            <a:r>
              <a:rPr sz="1400" b="0" i="0">
                <a:solidFill>
                  <a:srgbClr val="6B0F1A"/>
                </a:solidFill>
                <a:latin typeface="Garamond"/>
              </a:rPr>
              <a:t>í</a:t>
            </a:r>
            <a:r>
              <a:rPr sz="1400" b="0" i="0">
                <a:solidFill>
                  <a:srgbClr val="F5F1EA"/>
                </a:solidFill>
                <a:latin typeface="Garamond"/>
              </a:rPr>
              <a:t>gio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65">
                <a:solidFill>
                  <a:srgbClr val="6B0F1A"/>
                </a:solidFill>
                <a:latin typeface="Consolas"/>
              </a:rPr>
              <a:t>02 · SEÇÃO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A1A1A"/>
                </a:solidFill>
                <a:latin typeface="Garamond"/>
              </a:rPr>
              <a:t>[Título do slide]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03120"/>
            <a:ext cx="10728655" cy="0"/>
          </a:xfrm>
          <a:prstGeom prst="line">
            <a:avLst/>
          </a:prstGeom>
          <a:ln w="9525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4A"/>
                </a:solidFill>
                <a:latin typeface="Garamond"/>
              </a:rPr>
              <a:t>[Parágrafo de abertura em itálico editorial, estabelecendo o contexto do que será apresentado.]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11880"/>
            <a:ext cx="109728" cy="109728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aramond"/>
              </a:rPr>
              <a:t>Primeiro ponto estruturante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Descrição em 1-2 linhas que expande o ponto com detalhes técnicos ou contextuais.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109728" cy="109728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aramond"/>
              </a:rPr>
              <a:t>Segundo ponto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Justificativa ou argumento que sustenta o primeiro ponto ou apresenta nova evidência.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349240"/>
            <a:ext cx="109728" cy="109728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Garamond"/>
              </a:rPr>
              <a:t>Terceiro ponto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Encerramento do raciocínio ou transição para o próximo slide.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4A4A4A"/>
                </a:solidFill>
                <a:latin typeface="Calibri"/>
              </a:rPr>
              <a:t>VESTÍGIO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4A4A4A"/>
                </a:solidFill>
                <a:latin typeface="Garamond"/>
              </a:rPr>
              <a:t>Vestígio Tecnologia Ltda (em abertura)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4A4A4A"/>
                </a:solidFill>
                <a:latin typeface="Consolas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65">
                <a:solidFill>
                  <a:srgbClr val="6B0F1A"/>
                </a:solidFill>
                <a:latin typeface="Consolas"/>
              </a:rPr>
              <a:t>03 · NÚMEROS RELEVANTES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A1A1A"/>
                </a:solidFill>
                <a:latin typeface="Garamond"/>
              </a:rPr>
              <a:t>[Título que contextualiza os números]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03120"/>
            <a:ext cx="10728655" cy="0"/>
          </a:xfrm>
          <a:prstGeom prst="line">
            <a:avLst/>
          </a:prstGeom>
          <a:ln w="9525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2651760"/>
            <a:ext cx="3474720" cy="54864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0" i="0">
                <a:solidFill>
                  <a:srgbClr val="1A1A1A"/>
                </a:solidFill>
                <a:latin typeface="Garamond"/>
              </a:rPr>
              <a:t>3.847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0F1A"/>
                </a:solidFill>
                <a:latin typeface="Garamond"/>
              </a:rPr>
              <a:t>mensagens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analisadas no corpus de comunicações digitais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651760"/>
            <a:ext cx="3474720" cy="54864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0" i="0">
                <a:solidFill>
                  <a:srgbClr val="1A1A1A"/>
                </a:solidFill>
                <a:latin typeface="Garamond"/>
              </a:rPr>
              <a:t>127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0F1A"/>
                </a:solidFill>
                <a:latin typeface="Garamond"/>
              </a:rPr>
              <a:t>documentos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4632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contratuais e técnicos incluídos na análise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651760"/>
            <a:ext cx="3474720" cy="54864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0" i="0">
                <a:solidFill>
                  <a:srgbClr val="1A1A1A"/>
                </a:solidFill>
                <a:latin typeface="Garamond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389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0F1A"/>
                </a:solidFill>
                <a:latin typeface="Garamond"/>
              </a:rPr>
              <a:t>correlações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4632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4A"/>
                </a:solidFill>
                <a:latin typeface="Calibri"/>
              </a:rPr>
              <a:t>automáticas detectadas com confiança &gt;70%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4A4A4A"/>
                </a:solidFill>
                <a:latin typeface="Calibri"/>
              </a:rPr>
              <a:t>VESTÍGIO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4A4A4A"/>
                </a:solidFill>
                <a:latin typeface="Garamond"/>
              </a:rPr>
              <a:t>Vestígio Tecnologia Ltda (em abertura)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4A4A4A"/>
                </a:solidFill>
                <a:latin typeface="Consolas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65">
                <a:solidFill>
                  <a:srgbClr val="6B0F1A"/>
                </a:solidFill>
                <a:latin typeface="Consolas"/>
              </a:rPr>
              <a:t>04 · COMPARATIVO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A1A1A"/>
                </a:solidFill>
                <a:latin typeface="Garamond"/>
              </a:rPr>
              <a:t>[Título do comparativo]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03120"/>
            <a:ext cx="10728655" cy="0"/>
          </a:xfrm>
          <a:prstGeom prst="line">
            <a:avLst/>
          </a:prstGeom>
          <a:ln w="9525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31520" y="2651760"/>
            <a:ext cx="3474720" cy="3657600"/>
          </a:xfrm>
          <a:prstGeom prst="rect">
            <a:avLst/>
          </a:prstGeom>
          <a:solidFill>
            <a:srgbClr val="FAF7F1"/>
          </a:solidFill>
          <a:ln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45720" cy="36576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35">
                <a:solidFill>
                  <a:srgbClr val="6B0F1A"/>
                </a:solidFill>
                <a:latin typeface="Consolas"/>
              </a:rPr>
              <a:t>OPÇÃO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Garamond"/>
              </a:rPr>
              <a:t>Primeira alternativa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041648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9319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1 desta opção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4517136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40740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2 com detalhe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4992624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882896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3 relevante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5468112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358384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Aspecto-chave de diferenciação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651760"/>
            <a:ext cx="3474720" cy="3657600"/>
          </a:xfrm>
          <a:prstGeom prst="rect">
            <a:avLst/>
          </a:prstGeom>
          <a:solidFill>
            <a:srgbClr val="FAF7F1"/>
          </a:solidFill>
          <a:ln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651760"/>
            <a:ext cx="45720" cy="36576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926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35">
                <a:solidFill>
                  <a:srgbClr val="6B0F1A"/>
                </a:solidFill>
                <a:latin typeface="Consolas"/>
              </a:rPr>
              <a:t>OPÇÃO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291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Garamond"/>
              </a:rPr>
              <a:t>Segunda alternativa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4041648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39319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1 desta opção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4517136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440740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2 com detalhe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4992624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4882896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3 relevante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5468112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5358384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Aspecto-chave de diferenciação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651760"/>
            <a:ext cx="3474720" cy="3657600"/>
          </a:xfrm>
          <a:prstGeom prst="rect">
            <a:avLst/>
          </a:prstGeom>
          <a:solidFill>
            <a:srgbClr val="FAF7F1"/>
          </a:solidFill>
          <a:ln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12480" y="2651760"/>
            <a:ext cx="45720" cy="36576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2926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35">
                <a:solidFill>
                  <a:srgbClr val="6B0F1A"/>
                </a:solidFill>
                <a:latin typeface="Consolas"/>
              </a:rPr>
              <a:t>OPÇÃO 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3291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Garamond"/>
              </a:rPr>
              <a:t>Terceira alternativa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4041648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9319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1 desta opção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4517136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40740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2 com detalhe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4992624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15400" y="4882896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Característica 3 relevante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20" y="5468112"/>
            <a:ext cx="54864" cy="54864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5358384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Aspecto-chave de diferenciação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4A4A4A"/>
                </a:solidFill>
                <a:latin typeface="Calibri"/>
              </a:rPr>
              <a:t>VESTÍGIO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4A4A4A"/>
                </a:solidFill>
                <a:latin typeface="Garamond"/>
              </a:rPr>
              <a:t>Vestígio Tecnologia Ltda (em abertura)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4A4A4A"/>
                </a:solidFill>
                <a:latin typeface="Consolas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371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0" i="1">
                <a:solidFill>
                  <a:srgbClr val="6B0F1A"/>
                </a:solidFill>
                <a:latin typeface="Garamond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65">
                <a:solidFill>
                  <a:srgbClr val="6B0F1A"/>
                </a:solidFill>
                <a:latin typeface="Consolas"/>
              </a:rPr>
              <a:t>05 · ESTUDO DE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1A1A1A"/>
                </a:solidFill>
                <a:latin typeface="Garamond"/>
              </a:rPr>
              <a:t>[Citação longa de um cliente, perito, juiz ou autoridade que valida o trabalho. Pode ter 2-3 linhas em Garamond itálico, com presença editorial, não corporativa.]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4937760"/>
            <a:ext cx="1371600" cy="0"/>
          </a:xfrm>
          <a:prstGeom prst="line">
            <a:avLst/>
          </a:prstGeom>
          <a:ln w="25400">
            <a:solidFill>
              <a:srgbClr val="6B0F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0" y="5120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Garamond"/>
              </a:rPr>
              <a:t>[Nome do autor da citação]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4A4A4A"/>
                </a:solidFill>
                <a:latin typeface="Calibri"/>
              </a:rPr>
              <a:t>[CARGO OU VÍNCULO INSTITUCIONAL]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4A4A4A"/>
                </a:solidFill>
                <a:latin typeface="Calibri"/>
              </a:rPr>
              <a:t>VESTÍGIO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4A4A4A"/>
                </a:solidFill>
                <a:latin typeface="Garamond"/>
              </a:rPr>
              <a:t>Vestígio Tecnologia Ltda (em abertura)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4A4A4A"/>
                </a:solidFill>
                <a:latin typeface="Consolas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 spc="165">
                <a:solidFill>
                  <a:srgbClr val="6B0F1A"/>
                </a:solidFill>
                <a:latin typeface="Consolas"/>
              </a:rPr>
              <a:t>06 ·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A1A1A"/>
                </a:solidFill>
                <a:latin typeface="Garamond"/>
              </a:rPr>
              <a:t>[Call to action principal]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03120"/>
            <a:ext cx="10728655" cy="0"/>
          </a:xfrm>
          <a:prstGeom prst="line">
            <a:avLst/>
          </a:prstGeom>
          <a:ln w="9525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4688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4A"/>
                </a:solidFill>
                <a:latin typeface="Garamond"/>
              </a:rPr>
              <a:t>[Parágrafo que contextualiza o convite e o valor do próximo passo para a audiência.]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6B0F1A"/>
                </a:solidFill>
                <a:latin typeface="Garamon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aramond"/>
              </a:rPr>
              <a:t>Primeiro passo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Descrição concreta da primeira ação esperada.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84048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6B0F1A"/>
                </a:solidFill>
                <a:latin typeface="Garamon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aramond"/>
              </a:rPr>
              <a:t>Segundo passo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2578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O que acontece na sequência, com prazo estimado se aplicável.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840480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6B0F1A"/>
                </a:solidFill>
                <a:latin typeface="Garamon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Garamond"/>
              </a:rPr>
              <a:t>Terceiro passo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2578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A4A4A"/>
                </a:solidFill>
                <a:latin typeface="Calibri"/>
              </a:rPr>
              <a:t>Fechamento do ciclo e entrega final.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00800"/>
            <a:ext cx="11277295" cy="0"/>
          </a:xfrm>
          <a:prstGeom prst="line">
            <a:avLst/>
          </a:prstGeom>
          <a:ln w="6350">
            <a:solidFill>
              <a:srgbClr val="D9D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92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4A4A4A"/>
                </a:solidFill>
                <a:latin typeface="Calibri"/>
              </a:rPr>
              <a:t>VESTÍGIO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4922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1">
                <a:solidFill>
                  <a:srgbClr val="4A4A4A"/>
                </a:solidFill>
                <a:latin typeface="Garamond"/>
              </a:rPr>
              <a:t>Vestígio Tecnologia Ltda (em abertura)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7215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4A4A4A"/>
                </a:solidFill>
                <a:latin typeface="Consola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0312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0" i="0">
                <a:solidFill>
                  <a:srgbClr val="F5F1EA"/>
                </a:solidFill>
                <a:latin typeface="Garamond"/>
              </a:rPr>
              <a:t>Vest</a:t>
            </a:r>
            <a:r>
              <a:rPr sz="7200" b="0" i="0">
                <a:solidFill>
                  <a:srgbClr val="6B0F1A"/>
                </a:solidFill>
                <a:latin typeface="Garamond"/>
              </a:rPr>
              <a:t>í</a:t>
            </a:r>
            <a:r>
              <a:rPr sz="7200" b="0" i="0">
                <a:solidFill>
                  <a:srgbClr val="F5F1EA"/>
                </a:solidFill>
                <a:latin typeface="Garamond"/>
              </a:rPr>
              <a:t>gio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0" y="3749039"/>
            <a:ext cx="914400" cy="0"/>
          </a:xfrm>
          <a:prstGeom prst="line">
            <a:avLst/>
          </a:prstGeom>
          <a:ln w="31750">
            <a:solidFill>
              <a:srgbClr val="6B0F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1">
                <a:solidFill>
                  <a:srgbClr val="F5F1EA"/>
                </a:solidFill>
                <a:latin typeface="Garamond"/>
              </a:rPr>
              <a:t>Perícia forense de comunicações digitais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 spc="70">
                <a:solidFill>
                  <a:srgbClr val="F5F1EA"/>
                </a:solidFill>
                <a:latin typeface="Consolas"/>
              </a:rPr>
              <a:t>vestigio.legal  ·  contato@vestigio.legal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225">
                <a:solidFill>
                  <a:srgbClr val="F5F1EA"/>
                </a:solidFill>
                <a:latin typeface="Calibri"/>
              </a:rPr>
              <a:t>VESTÍGIO TECNOLOGIA LTDA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4A4A4A"/>
                </a:solidFill>
                <a:latin typeface="Garamond"/>
              </a:rPr>
              <a:t>em abertura · subsidiária HCF Investimentos e Participações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